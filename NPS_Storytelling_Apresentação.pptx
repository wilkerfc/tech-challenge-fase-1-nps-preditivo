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gqOJ7RrxGXRJJ7UKDiHS0Bw7T3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9a8278708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9a8278708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g39a8278708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" name="Google Shape;7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5" name="Google Shape;31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9a82787086_0_0"/>
          <p:cNvSpPr/>
          <p:nvPr/>
        </p:nvSpPr>
        <p:spPr>
          <a:xfrm>
            <a:off x="0" y="0"/>
            <a:ext cx="91500" cy="51435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g39a82787086_0_0"/>
          <p:cNvSpPr/>
          <p:nvPr/>
        </p:nvSpPr>
        <p:spPr>
          <a:xfrm>
            <a:off x="320040" y="502920"/>
            <a:ext cx="8503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se você soubesse,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g39a82787086_0_0"/>
          <p:cNvSpPr/>
          <p:nvPr/>
        </p:nvSpPr>
        <p:spPr>
          <a:xfrm>
            <a:off x="320040" y="1097280"/>
            <a:ext cx="8503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antes do cliente reclamar,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g39a82787086_0_0"/>
          <p:cNvSpPr/>
          <p:nvPr/>
        </p:nvSpPr>
        <p:spPr>
          <a:xfrm>
            <a:off x="320040" y="1691640"/>
            <a:ext cx="8503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 ele estava insatisfeito?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g39a82787086_0_0"/>
          <p:cNvSpPr/>
          <p:nvPr/>
        </p:nvSpPr>
        <p:spPr>
          <a:xfrm>
            <a:off x="320040" y="2542032"/>
            <a:ext cx="4114800" cy="366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g39a82787086_0_0"/>
          <p:cNvSpPr/>
          <p:nvPr/>
        </p:nvSpPr>
        <p:spPr>
          <a:xfrm>
            <a:off x="320040" y="2638055"/>
            <a:ext cx="8503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B4C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0B4C0"/>
                </a:solidFill>
                <a:latin typeface="Calibri"/>
                <a:ea typeface="Calibri"/>
                <a:cs typeface="Calibri"/>
                <a:sym typeface="Calibri"/>
              </a:rPr>
              <a:t>NPS Preditivo para E-commerce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g39a82787086_0_0"/>
          <p:cNvSpPr/>
          <p:nvPr/>
        </p:nvSpPr>
        <p:spPr>
          <a:xfrm>
            <a:off x="320050" y="3044875"/>
            <a:ext cx="85038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7A8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7A8A"/>
                </a:solidFill>
                <a:latin typeface="Calibri"/>
                <a:ea typeface="Calibri"/>
                <a:cs typeface="Calibri"/>
                <a:sym typeface="Calibri"/>
              </a:rPr>
              <a:t>Tech Challenge — Fase 1  |  AI Scientist</a:t>
            </a:r>
            <a:br>
              <a:rPr b="0" i="0" lang="en-US" sz="1200" u="none" cap="none" strike="noStrike">
                <a:solidFill>
                  <a:srgbClr val="5A7A8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5A7A8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5A7A8A"/>
                </a:solidFill>
                <a:latin typeface="Calibri"/>
                <a:ea typeface="Calibri"/>
                <a:cs typeface="Calibri"/>
                <a:sym typeface="Calibri"/>
              </a:rPr>
              <a:t>Cássio(rm371155), Danyela(rm373926), Gustavo(rm371137) e Wilker (rm373500)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g39a82787086_0_0"/>
          <p:cNvSpPr/>
          <p:nvPr/>
        </p:nvSpPr>
        <p:spPr>
          <a:xfrm>
            <a:off x="320040" y="3758600"/>
            <a:ext cx="2560200" cy="11886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g39a82787086_0_0"/>
          <p:cNvSpPr/>
          <p:nvPr/>
        </p:nvSpPr>
        <p:spPr>
          <a:xfrm>
            <a:off x="320040" y="3831752"/>
            <a:ext cx="2560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74%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g39a82787086_0_0"/>
          <p:cNvSpPr/>
          <p:nvPr/>
        </p:nvSpPr>
        <p:spPr>
          <a:xfrm>
            <a:off x="320040" y="4352960"/>
            <a:ext cx="2560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B4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4C0"/>
                </a:solidFill>
                <a:latin typeface="Calibri"/>
                <a:ea typeface="Calibri"/>
                <a:cs typeface="Calibri"/>
                <a:sym typeface="Calibri"/>
              </a:rPr>
              <a:t>dos clientes são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B4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4C0"/>
                </a:solidFill>
                <a:latin typeface="Calibri"/>
                <a:ea typeface="Calibri"/>
                <a:cs typeface="Calibri"/>
                <a:sym typeface="Calibri"/>
              </a:rPr>
              <a:t>detratores hoje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g39a82787086_0_0"/>
          <p:cNvSpPr/>
          <p:nvPr/>
        </p:nvSpPr>
        <p:spPr>
          <a:xfrm>
            <a:off x="3154680" y="3758600"/>
            <a:ext cx="2560200" cy="11886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g39a82787086_0_0"/>
          <p:cNvSpPr/>
          <p:nvPr/>
        </p:nvSpPr>
        <p:spPr>
          <a:xfrm>
            <a:off x="3154680" y="3831752"/>
            <a:ext cx="2560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93%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g39a82787086_0_0"/>
          <p:cNvSpPr/>
          <p:nvPr/>
        </p:nvSpPr>
        <p:spPr>
          <a:xfrm>
            <a:off x="3154680" y="4352960"/>
            <a:ext cx="2560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B4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4C0"/>
                </a:solidFill>
                <a:latin typeface="Calibri"/>
                <a:ea typeface="Calibri"/>
                <a:cs typeface="Calibri"/>
                <a:sym typeface="Calibri"/>
              </a:rPr>
              <a:t>identificados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B4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4C0"/>
                </a:solidFill>
                <a:latin typeface="Calibri"/>
                <a:ea typeface="Calibri"/>
                <a:cs typeface="Calibri"/>
                <a:sym typeface="Calibri"/>
              </a:rPr>
              <a:t>antes de reclamar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g39a82787086_0_0"/>
          <p:cNvSpPr/>
          <p:nvPr/>
        </p:nvSpPr>
        <p:spPr>
          <a:xfrm>
            <a:off x="5989320" y="3758600"/>
            <a:ext cx="2560200" cy="11886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g39a82787086_0_0"/>
          <p:cNvSpPr/>
          <p:nvPr/>
        </p:nvSpPr>
        <p:spPr>
          <a:xfrm>
            <a:off x="5989320" y="3831752"/>
            <a:ext cx="2560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3 dias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g39a82787086_0_0"/>
          <p:cNvSpPr/>
          <p:nvPr/>
        </p:nvSpPr>
        <p:spPr>
          <a:xfrm>
            <a:off x="5989320" y="4352960"/>
            <a:ext cx="2560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B4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4C0"/>
                </a:solidFill>
                <a:latin typeface="Calibri"/>
                <a:ea typeface="Calibri"/>
                <a:cs typeface="Calibri"/>
                <a:sym typeface="Calibri"/>
              </a:rPr>
              <a:t>de atraso = ponto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B4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4C0"/>
                </a:solidFill>
                <a:latin typeface="Calibri"/>
                <a:ea typeface="Calibri"/>
                <a:cs typeface="Calibri"/>
                <a:sym typeface="Calibri"/>
              </a:rPr>
              <a:t>de ruptura crítico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9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CONTEXTO DO PROBLEMA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Por que isso importa para o negócio?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274320" y="822960"/>
            <a:ext cx="8595360" cy="74980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274320" y="822960"/>
            <a:ext cx="85953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NPS só chega </a:t>
            </a:r>
            <a:r>
              <a:rPr b="1" i="0" lang="en-US" sz="16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DEPOIS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 o cliente foi embora. </a:t>
            </a:r>
            <a:r>
              <a:rPr b="1" i="0" lang="en-US" sz="14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Quando o cliente já é detrator.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274320" y="1755648"/>
            <a:ext cx="2743200" cy="3154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274320" y="1755648"/>
            <a:ext cx="2743200" cy="5029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11480" y="1773936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📦  Volume cresce.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384048" y="2286000"/>
            <a:ext cx="25237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Experiência não acompanha.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384048" y="2633472"/>
            <a:ext cx="2523744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 e-commerce escala pedidos, mas a qualidade da entrega e do atendimento não cresce no mesmo ritmo.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3154680" y="1755648"/>
            <a:ext cx="2743200" cy="3154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3154680" y="1755648"/>
            <a:ext cx="2743200" cy="50292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3291840" y="1773936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💸  Custo invisível.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3264408" y="2286000"/>
            <a:ext cx="25237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Detratores drenam o caixa.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3264408" y="2633472"/>
            <a:ext cx="2523744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Reter um cliente custa 5–7× menos que adquirir um novo. Detratores não recompram — e ainda afastam outros.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035040" y="1755648"/>
            <a:ext cx="2743200" cy="3154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035040" y="1755648"/>
            <a:ext cx="2743200" cy="5029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6172200" y="1773936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📢  Boca a boca negativo.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144768" y="2286000"/>
            <a:ext cx="25237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Experiências ruins se multiplicam.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6144768" y="2633472"/>
            <a:ext cx="2523744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Um detrator conta a experiência negativa para 9–15 pessoas. Em e-commerce, isso vira review público.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320040" y="365760"/>
            <a:ext cx="8503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A PERGUNTA QUE GUIOU TUDO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320040" y="868680"/>
            <a:ext cx="8503920" cy="146304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502920" y="868680"/>
            <a:ext cx="8229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"É possível prever, com base em dados operacionais disponíveis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antes da entrega, se um cliente vai se tornar um detrator?"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320040" y="2514600"/>
            <a:ext cx="8503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O que o modelo busca responder: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320040" y="2907792"/>
            <a:ext cx="8503920" cy="530352"/>
          </a:xfrm>
          <a:prstGeom prst="rect">
            <a:avLst/>
          </a:prstGeom>
          <a:solidFill>
            <a:srgbClr val="0F2535"/>
          </a:solidFill>
          <a:ln cap="flat" cmpd="sng" w="12700">
            <a:solidFill>
              <a:srgbClr val="1E3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11480" y="2907792"/>
            <a:ext cx="502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960120" y="2907792"/>
            <a:ext cx="7772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Quais fatores operacionais mais impactam a insatisfação?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320040" y="3502152"/>
            <a:ext cx="8503920" cy="530352"/>
          </a:xfrm>
          <a:prstGeom prst="rect">
            <a:avLst/>
          </a:prstGeom>
          <a:solidFill>
            <a:srgbClr val="0F2535"/>
          </a:solidFill>
          <a:ln cap="flat" cmpd="sng" w="12700">
            <a:solidFill>
              <a:srgbClr val="1E3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11480" y="3502152"/>
            <a:ext cx="502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960120" y="3502152"/>
            <a:ext cx="7772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Qual é a probabilidade deste cliente específico virar detrator?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320040" y="4096512"/>
            <a:ext cx="8503920" cy="530352"/>
          </a:xfrm>
          <a:prstGeom prst="rect">
            <a:avLst/>
          </a:prstGeom>
          <a:solidFill>
            <a:srgbClr val="0F2535"/>
          </a:solidFill>
          <a:ln cap="flat" cmpd="sng" w="12700">
            <a:solidFill>
              <a:srgbClr val="1E3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411480" y="4096512"/>
            <a:ext cx="502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960120" y="4096512"/>
            <a:ext cx="7772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Quando e como intervir antes que a insatisfação aconteça?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9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RETRATO DOS DADOS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132075" y="0"/>
            <a:ext cx="88884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Principais insights da análise exploratória (EDA)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274320" y="822960"/>
            <a:ext cx="2560320" cy="406908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274320" y="1280160"/>
            <a:ext cx="2560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74%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274320" y="214884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dos clientes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274320" y="274320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DETRATORES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274320" y="329184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AA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AAB0"/>
                </a:solidFill>
                <a:latin typeface="Calibri"/>
                <a:ea typeface="Calibri"/>
                <a:cs typeface="Calibri"/>
                <a:sym typeface="Calibri"/>
              </a:rPr>
              <a:t>1.851 de 2.500 clientes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AA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AAB0"/>
                </a:solidFill>
                <a:latin typeface="Calibri"/>
                <a:ea typeface="Calibri"/>
                <a:cs typeface="Calibri"/>
                <a:sym typeface="Calibri"/>
              </a:rPr>
              <a:t>analisados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274320" y="388620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 Alerta crítico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 o negócio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3108960" y="822960"/>
            <a:ext cx="576072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3108960" y="822960"/>
            <a:ext cx="109728" cy="91440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3273552" y="822960"/>
            <a:ext cx="548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🚚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3886200" y="896112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Entrega é o maior gatilho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3886200" y="123444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Atraso na entrega tem correlação de −0,60 com o NPS. É o fator isolado mais destrutivo.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3108960" y="1828800"/>
            <a:ext cx="576072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3108960" y="1828800"/>
            <a:ext cx="109728" cy="91440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3273552" y="1828800"/>
            <a:ext cx="548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📞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3886200" y="1901952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Reclamações acumulam dano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3886200" y="224028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Cada reclamação adicional degrada o NPS sistematicamente. Correlação de −0,50.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3108960" y="2834640"/>
            <a:ext cx="576072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3108960" y="2834640"/>
            <a:ext cx="109728" cy="914400"/>
          </a:xfrm>
          <a:prstGeom prst="rect">
            <a:avLst/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3273552" y="2834640"/>
            <a:ext cx="548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3886200" y="2907792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Quem recompra, aprova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3886200" y="324612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Recompra em 30 dias tem correlação de +0,57 com NPS alto. Satisfação gera fidelidade.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3108960" y="3840480"/>
            <a:ext cx="576072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3108960" y="3840480"/>
            <a:ext cx="109728" cy="914400"/>
          </a:xfrm>
          <a:prstGeom prst="rect">
            <a:avLst/>
          </a:prstGeom>
          <a:solidFill>
            <a:srgbClr val="3498DB"/>
          </a:solidFill>
          <a:ln cap="flat" cmpd="sng" w="12700">
            <a:solidFill>
              <a:srgbClr val="3498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3273552" y="3840480"/>
            <a:ext cx="548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💰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3886200" y="3913632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Preço importa menos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3886200" y="425196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 valor do pedido mal diferencia promotores de detratores (−6%). Não é sobre preço.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9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PONTO ONDE TUDO QUEBRA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Insight mais crítico da análise exploratória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488275" y="780515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% de clientes que viram detratores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640080" y="3281033"/>
            <a:ext cx="868680" cy="970927"/>
          </a:xfrm>
          <a:prstGeom prst="rect">
            <a:avLst/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40080" y="2988425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36.5%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594360" y="4297680"/>
            <a:ext cx="960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 dias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(no prazo)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1828800" y="2451091"/>
            <a:ext cx="868680" cy="1800869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1828800" y="2158483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67.7%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1783080" y="4297680"/>
            <a:ext cx="960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1–2 dias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 atraso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3017520" y="1783413"/>
            <a:ext cx="868680" cy="2468547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3017520" y="1490805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92.8%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2971800" y="4297680"/>
            <a:ext cx="960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3–5 dias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 atraso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4206240" y="1591887"/>
            <a:ext cx="868680" cy="2660073"/>
          </a:xfrm>
          <a:prstGeom prst="rect">
            <a:avLst/>
          </a:prstGeom>
          <a:solidFill>
            <a:srgbClr val="8B0000"/>
          </a:solidFill>
          <a:ln cap="flat" cmpd="sng" w="12700">
            <a:solidFill>
              <a:srgbClr val="8B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4206240" y="1299279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00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0000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4160520" y="4297680"/>
            <a:ext cx="960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6–10 dias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 atraso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640080" y="4251960"/>
            <a:ext cx="4572000" cy="228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2788920" y="1097280"/>
            <a:ext cx="36576" cy="306324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2860703" y="1339595"/>
            <a:ext cx="201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← PONTO DE RUPTURA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5715000" y="822960"/>
            <a:ext cx="3200400" cy="932688"/>
          </a:xfrm>
          <a:prstGeom prst="rect">
            <a:avLst/>
          </a:prstGeom>
          <a:solidFill>
            <a:srgbClr val="E8F8F0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5715000" y="822960"/>
            <a:ext cx="64008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6400800" y="914400"/>
            <a:ext cx="2423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36,5%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6400800" y="1325880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detratores sem atraso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5715000" y="1847088"/>
            <a:ext cx="3200400" cy="932688"/>
          </a:xfrm>
          <a:prstGeom prst="rect">
            <a:avLst/>
          </a:prstGeom>
          <a:solidFill>
            <a:srgbClr val="FFF8E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5715000" y="1847088"/>
            <a:ext cx="64008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6400800" y="1938528"/>
            <a:ext cx="2423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67,7%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6400800" y="2350008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detratores com 1–2 dias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5715000" y="2871216"/>
            <a:ext cx="3200400" cy="932688"/>
          </a:xfrm>
          <a:prstGeom prst="rect">
            <a:avLst/>
          </a:prstGeom>
          <a:solidFill>
            <a:srgbClr val="FFF0F0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5715000" y="2871216"/>
            <a:ext cx="64008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🔴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6400800" y="2962656"/>
            <a:ext cx="2423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92,8%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6400800" y="337413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detratores com 3–5 dias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5715000" y="3895344"/>
            <a:ext cx="3200400" cy="932688"/>
          </a:xfrm>
          <a:prstGeom prst="rect">
            <a:avLst/>
          </a:prstGeom>
          <a:solidFill>
            <a:srgbClr val="FFE8E8"/>
          </a:solidFill>
          <a:ln cap="flat" cmpd="sng" w="12700">
            <a:solidFill>
              <a:srgbClr val="8B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5889175" y="3975875"/>
            <a:ext cx="4659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1"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😤 </a:t>
            </a:r>
            <a:endParaRPr sz="2000"/>
          </a:p>
        </p:txBody>
      </p:sp>
      <p:sp>
        <p:nvSpPr>
          <p:cNvPr id="148" name="Google Shape;148;p5"/>
          <p:cNvSpPr/>
          <p:nvPr/>
        </p:nvSpPr>
        <p:spPr>
          <a:xfrm>
            <a:off x="6400800" y="3986784"/>
            <a:ext cx="2423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000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8B0000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6400800" y="4398264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detratores com 6+ dias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solidFill>
            <a:srgbClr val="FFF3CD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5640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56404"/>
                </a:solidFill>
                <a:latin typeface="Calibri"/>
                <a:ea typeface="Calibri"/>
                <a:cs typeface="Calibri"/>
                <a:sym typeface="Calibri"/>
              </a:rPr>
              <a:t>💡  SLA recomendado: qualquer pedido com risco de atraso ≥ 3 dias deve acionar comunicação proativa imediata com o cliente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1212073" y="1185300"/>
            <a:ext cx="1384800" cy="7389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partir de 3 dias,</a:t>
            </a:r>
            <a:endParaRPr b="1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queda é irreversível</a:t>
            </a:r>
            <a:endParaRPr b="1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9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/>
          <p:nvPr/>
        </p:nvSpPr>
        <p:spPr>
          <a:xfrm>
            <a:off x="0" y="0"/>
            <a:ext cx="9144000" cy="5361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QUE REALMENTE MOVE A SATISFAÇÃO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365750" y="-64025"/>
            <a:ext cx="8577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Os fatores  que mais impactam a satisfação do cliente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283000" y="594472"/>
            <a:ext cx="3200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📋  Número de reclamações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3574840" y="685912"/>
            <a:ext cx="5087400" cy="29250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8735381" y="594472"/>
            <a:ext cx="59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20.4%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283000" y="1188832"/>
            <a:ext cx="3200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🚚  Dias de atraso na entrega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3574840" y="1280272"/>
            <a:ext cx="3566100" cy="29250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7214152" y="1188832"/>
            <a:ext cx="59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14.3%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283000" y="1783192"/>
            <a:ext cx="3200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💰  Valor do pedido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3574840" y="1874632"/>
            <a:ext cx="1945200" cy="29250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5593170" y="1783192"/>
            <a:ext cx="59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7.8%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283000" y="2377552"/>
            <a:ext cx="3200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🏷️  Desconto aplicado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3574840" y="2468992"/>
            <a:ext cx="1895400" cy="29250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5543294" y="2377552"/>
            <a:ext cx="59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7.6%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283000" y="2971912"/>
            <a:ext cx="3200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📦  Valor do frete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3574840" y="3063352"/>
            <a:ext cx="1845300" cy="29250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5493417" y="2971912"/>
            <a:ext cx="59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7.4%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283000" y="3566272"/>
            <a:ext cx="3200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🎧  Tempo no atendimento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3574840" y="3657712"/>
            <a:ext cx="1571100" cy="292500"/>
          </a:xfrm>
          <a:prstGeom prst="rect">
            <a:avLst/>
          </a:prstGeom>
          <a:solidFill>
            <a:srgbClr val="3498DB"/>
          </a:solidFill>
          <a:ln cap="flat" cmpd="sng" w="12700">
            <a:solidFill>
              <a:srgbClr val="3498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5219097" y="3566272"/>
            <a:ext cx="59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498DB"/>
                </a:solidFill>
                <a:latin typeface="Calibri"/>
                <a:ea typeface="Calibri"/>
                <a:cs typeface="Calibri"/>
                <a:sym typeface="Calibri"/>
              </a:rPr>
              <a:t>6.3%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283000" y="4160632"/>
            <a:ext cx="3200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📞  Contatos com o SAC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3574840" y="4252072"/>
            <a:ext cx="1246800" cy="292500"/>
          </a:xfrm>
          <a:prstGeom prst="rect">
            <a:avLst/>
          </a:prstGeom>
          <a:solidFill>
            <a:srgbClr val="3498DB"/>
          </a:solidFill>
          <a:ln cap="flat" cmpd="sng" w="12700">
            <a:solidFill>
              <a:srgbClr val="3498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4894901" y="4160632"/>
            <a:ext cx="59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498DB"/>
                </a:solidFill>
                <a:latin typeface="Calibri"/>
                <a:ea typeface="Calibri"/>
                <a:cs typeface="Calibri"/>
                <a:sym typeface="Calibri"/>
              </a:rPr>
              <a:t>5%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2625" y="4708400"/>
            <a:ext cx="9141300" cy="4572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2625" y="4721800"/>
            <a:ext cx="91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🎯  Entrega + Atendimento = mais de 50% do que explica a insatisfação. O cliente não quer promoção — quer que o pedido chegue no prazo e o problema seja resolvido na primeira ligação.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9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DOIS CLIENTES. UMA DIFERENÇA ENORME.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O perfil médio de quem odeia vs. quem ama a marca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274320" y="777240"/>
            <a:ext cx="3931920" cy="4160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274320" y="777240"/>
            <a:ext cx="3931920" cy="59436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411480" y="77724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😤  DETRATOR   (nota 0–6)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411480" y="1481328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Atraso médio: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1920240" y="1481328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2,5 dias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411480" y="1755648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80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88080"/>
                </a:solidFill>
                <a:latin typeface="Calibri"/>
                <a:ea typeface="Calibri"/>
                <a:cs typeface="Calibri"/>
                <a:sym typeface="Calibri"/>
              </a:rPr>
              <a:t>3× mais que promotor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411480" y="2103120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Reclamações: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920240" y="210312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4,6 por pedido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411480" y="237744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80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88080"/>
                </a:solidFill>
                <a:latin typeface="Calibri"/>
                <a:ea typeface="Calibri"/>
                <a:cs typeface="Calibri"/>
                <a:sym typeface="Calibri"/>
              </a:rPr>
              <a:t>+93% vs promotor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411480" y="2724912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Contatos SAC: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1920240" y="2724912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1,7 ligações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411480" y="299923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80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88080"/>
                </a:solidFill>
                <a:latin typeface="Calibri"/>
                <a:ea typeface="Calibri"/>
                <a:cs typeface="Calibri"/>
                <a:sym typeface="Calibri"/>
              </a:rPr>
              <a:t>+117% vs promotor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411480" y="3346704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Resolução: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1920240" y="3346704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5,8 dias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411480" y="3621024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80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88080"/>
                </a:solidFill>
                <a:latin typeface="Calibri"/>
                <a:ea typeface="Calibri"/>
                <a:cs typeface="Calibri"/>
                <a:sym typeface="Calibri"/>
              </a:rPr>
              <a:t>+41% vs promotor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411480" y="3968496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Recompra?: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1920240" y="3968496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Raramente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411480" y="4242816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80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88080"/>
                </a:solidFill>
                <a:latin typeface="Calibri"/>
                <a:ea typeface="Calibri"/>
                <a:cs typeface="Calibri"/>
                <a:sym typeface="Calibri"/>
              </a:rPr>
              <a:t>Alta taxa de churn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4325112" y="1828800"/>
            <a:ext cx="493776" cy="493776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4325112" y="1828800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4937760" y="777240"/>
            <a:ext cx="3931920" cy="4160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4937760" y="777240"/>
            <a:ext cx="3931920" cy="594360"/>
          </a:xfrm>
          <a:prstGeom prst="rect">
            <a:avLst/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5074920" y="77724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😊  PROMOTOR   (nota 9–10)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5074920" y="1481328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Atraso médio: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6583680" y="1481328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0,8 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5074920" y="1755648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8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0B880"/>
                </a:solidFill>
                <a:latin typeface="Calibri"/>
                <a:ea typeface="Calibri"/>
                <a:cs typeface="Calibri"/>
                <a:sym typeface="Calibri"/>
              </a:rPr>
              <a:t>Entrega quase sempre no prazo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5074920" y="2103120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Reclamações: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6583680" y="210312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2,4 por pedido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5074920" y="237744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8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0B880"/>
                </a:solidFill>
                <a:latin typeface="Calibri"/>
                <a:ea typeface="Calibri"/>
                <a:cs typeface="Calibri"/>
                <a:sym typeface="Calibri"/>
              </a:rPr>
              <a:t>Significativamente menos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5074920" y="2724912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Contatos SAC: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6583680" y="2724912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0,8 ligação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5074920" y="299923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8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0B880"/>
                </a:solidFill>
                <a:latin typeface="Calibri"/>
                <a:ea typeface="Calibri"/>
                <a:cs typeface="Calibri"/>
                <a:sym typeface="Calibri"/>
              </a:rPr>
              <a:t>Resolve no primeiro contato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5074920" y="3346704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Resolução: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6583680" y="3346704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4,1 dias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5074920" y="3621024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8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0B880"/>
                </a:solidFill>
                <a:latin typeface="Calibri"/>
                <a:ea typeface="Calibri"/>
                <a:cs typeface="Calibri"/>
                <a:sym typeface="Calibri"/>
              </a:rPr>
              <a:t>Mais rápido e eficiente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5074920" y="3968496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Recompra?: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6583680" y="3968496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Sim!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5074920" y="4242816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8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0B880"/>
                </a:solidFill>
                <a:latin typeface="Calibri"/>
                <a:ea typeface="Calibri"/>
                <a:cs typeface="Calibri"/>
                <a:sym typeface="Calibri"/>
              </a:rPr>
              <a:t>Gera crescimento orgânico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9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QUE FAZER COM ISSO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Recomendações práticas e priorizadas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274320" y="804672"/>
            <a:ext cx="4160520" cy="1993392"/>
          </a:xfrm>
          <a:prstGeom prst="rect">
            <a:avLst/>
          </a:prstGeom>
          <a:solidFill>
            <a:srgbClr val="FFF0F0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274320" y="804672"/>
            <a:ext cx="4160520" cy="41148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365760" y="804672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 URGENTE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365760" y="1261872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Protocolo de alerta para atraso ≥ 3 dias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365760" y="1609344"/>
            <a:ext cx="3931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Criar um gatilho automático: qualquer pedido com previsão de atraso acima de 2 dias deve disparar uma mensagem proativa ao cliente antes que ele perceba o problema.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365760" y="237744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→ Impacto potencial: reduzir de 92% para &lt; 60% a taxa de detratores por atraso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4709160" y="804672"/>
            <a:ext cx="4160520" cy="1993392"/>
          </a:xfrm>
          <a:prstGeom prst="rect">
            <a:avLst/>
          </a:prstGeom>
          <a:solidFill>
            <a:srgbClr val="FFF8E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4709160" y="804672"/>
            <a:ext cx="4160520" cy="41148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4800600" y="804672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 ALTA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4800600" y="1261872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SAC com resolução no primeiro contato (FCR)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4800600" y="1609344"/>
            <a:ext cx="3931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Investir em capacitação do atendimento para que o problema seja resolvido na primeira ligação. Clientes que ligam 2+ vezes têm probabilidade 3× maior de virar detratores.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4800600" y="237744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5640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856404"/>
                </a:solidFill>
                <a:latin typeface="Calibri"/>
                <a:ea typeface="Calibri"/>
                <a:cs typeface="Calibri"/>
                <a:sym typeface="Calibri"/>
              </a:rPr>
              <a:t>→ Impacto potencial: reduzir contatos médios de 1,7 para &lt; 1,2 por pedido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274320" y="2926080"/>
            <a:ext cx="4160520" cy="1993392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3498D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274320" y="2926080"/>
            <a:ext cx="4160520" cy="411480"/>
          </a:xfrm>
          <a:prstGeom prst="rect">
            <a:avLst/>
          </a:prstGeom>
          <a:solidFill>
            <a:srgbClr val="3498DB"/>
          </a:solidFill>
          <a:ln cap="flat" cmpd="sng" w="12700">
            <a:solidFill>
              <a:srgbClr val="3498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365760" y="292608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 MÉDIA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365760" y="338328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Modelo preditivo em produção (real-time)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365760" y="3730752"/>
            <a:ext cx="3931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Integrar o modelo ao pipeline operacional para calcular, a cada atualização, a probabilidade de cada cliente virar detrator. Clientes com &gt; 80% de risco: contato imediato + voucher.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365760" y="4498848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498DB"/>
                </a:solidFill>
                <a:latin typeface="Calibri"/>
                <a:ea typeface="Calibri"/>
                <a:cs typeface="Calibri"/>
                <a:sym typeface="Calibri"/>
              </a:rPr>
              <a:t>→ Transforma o NPS de indicador reativo em ferramenta proativa de gestão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4709160" y="2926080"/>
            <a:ext cx="4160520" cy="1993392"/>
          </a:xfrm>
          <a:prstGeom prst="rect">
            <a:avLst/>
          </a:prstGeom>
          <a:solidFill>
            <a:srgbClr val="E8F8F0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4709160" y="2926080"/>
            <a:ext cx="4160520" cy="411480"/>
          </a:xfrm>
          <a:prstGeom prst="rect">
            <a:avLst/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4800600" y="292608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 CONTÍNUO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4800600" y="338328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Dashboard de NPS preditivo para lideranças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4800600" y="3730752"/>
            <a:ext cx="3931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Criar painel que mostra, em tempo real, quantos clientes estão em risco de detração e por qual motivo — alimentando decisões de Logística, SAC, Produto e Marketing.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4800600" y="4498848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→ Alinha toda a operação em torno da experiência do cliente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9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9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QUE ESTE MODELO NÃO É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Limitações e riscos que toda liderança precisa conhecer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228600" y="804672"/>
            <a:ext cx="274320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1783080" y="896112"/>
            <a:ext cx="1051560" cy="256032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1783080" y="896112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MODERADO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320040" y="896112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🔭  Correlação ≠ Causa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320040" y="1325880"/>
            <a:ext cx="2560320" cy="530352"/>
          </a:xfrm>
          <a:prstGeom prst="rect">
            <a:avLst/>
          </a:prstGeom>
          <a:solidFill>
            <a:srgbClr val="FFF8F0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365760" y="1325880"/>
            <a:ext cx="24688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⚠  O modelo detecta padrões, mas não prova causalidade.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320040" y="1920240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Reduzir o atraso provavelmente melhora o NPS, mas não há garantia de que seja linear. Teste antes de escalar.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3154680" y="804672"/>
            <a:ext cx="274320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4709160" y="896112"/>
            <a:ext cx="1051560" cy="256032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4709160" y="896112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MODERADO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3246120" y="896112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📊  Amostra com viés de resposta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3246120" y="1325880"/>
            <a:ext cx="2560320" cy="530352"/>
          </a:xfrm>
          <a:prstGeom prst="rect">
            <a:avLst/>
          </a:prstGeom>
          <a:solidFill>
            <a:srgbClr val="FFF8F0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3291840" y="1325880"/>
            <a:ext cx="24688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⚠  74% detratores pode não representar o universo real.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3246120" y="1920240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Clientes com experiências extremas respondem mais. A realidade pode ser ligeiramente menos grave — ou pior.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6080760" y="804672"/>
            <a:ext cx="274320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7635240" y="896112"/>
            <a:ext cx="1051560" cy="256032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7635240" y="896112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6172200" y="896112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⏰  Modelo envelhece com o tempo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6172200" y="1325880"/>
            <a:ext cx="2560320" cy="530352"/>
          </a:xfrm>
          <a:prstGeom prst="rect">
            <a:avLst/>
          </a:prstGeom>
          <a:solidFill>
            <a:srgbClr val="FFF8F0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6217920" y="1325880"/>
            <a:ext cx="24688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⚠  O comportamento dos clientes muda. O modelo pode perder precisão.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6172200" y="1920240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Monitorar drift mensal. Re-treinar trimestralmente com dados novos para manter os 93% de recall.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228600" y="2862072"/>
            <a:ext cx="274320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1783080" y="2953512"/>
            <a:ext cx="1051560" cy="256032"/>
          </a:xfrm>
          <a:prstGeom prst="rect">
            <a:avLst/>
          </a:prstGeom>
          <a:solidFill>
            <a:srgbClr val="3498DB"/>
          </a:solidFill>
          <a:ln cap="flat" cmpd="sng" w="12700">
            <a:solidFill>
              <a:srgbClr val="3498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1783080" y="2953512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TÉCNICO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320040" y="2953512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🎯  74% detratores exige cuidado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320040" y="3383280"/>
            <a:ext cx="2560320" cy="530352"/>
          </a:xfrm>
          <a:prstGeom prst="rect">
            <a:avLst/>
          </a:prstGeom>
          <a:solidFill>
            <a:srgbClr val="FFF8F0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365760" y="3383280"/>
            <a:ext cx="24688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⚠  Classes muito desbalanceadas distorcem métricas simples.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320040" y="3977640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Nunca usar "acurácia" sozinha para avaliar. AUC-ROC e F1 são as métricas corretas neste cenário.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3154680" y="2862072"/>
            <a:ext cx="274320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4709160" y="2953512"/>
            <a:ext cx="1051560" cy="256032"/>
          </a:xfrm>
          <a:prstGeom prst="rect">
            <a:avLst/>
          </a:prstGeom>
          <a:solidFill>
            <a:srgbClr val="3498DB"/>
          </a:solidFill>
          <a:ln cap="flat" cmpd="sng" w="12700">
            <a:solidFill>
              <a:srgbClr val="3498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4709160" y="2953512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TÉCNICO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3246120" y="2953512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🔗  Variáveis excluídas a propósito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3246120" y="3383280"/>
            <a:ext cx="2560320" cy="530352"/>
          </a:xfrm>
          <a:prstGeom prst="rect">
            <a:avLst/>
          </a:prstGeom>
          <a:solidFill>
            <a:srgbClr val="FFF8F0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3291840" y="3383280"/>
            <a:ext cx="24688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⚠  CSAT interno e recompra foram removidas intencionalmente.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3246120" y="3977640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 incluídas, o modelo pareceria mais preciso, mas "trapacearia" usando informação do futuro (data leakage).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6080760" y="2862072"/>
            <a:ext cx="274320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7635240" y="2953512"/>
            <a:ext cx="1051560" cy="256032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7635240" y="2953512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CRÍTICO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6172200" y="2953512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🤝  Modelo é suporte, não substituto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6172200" y="3383280"/>
            <a:ext cx="2560320" cy="530352"/>
          </a:xfrm>
          <a:prstGeom prst="rect">
            <a:avLst/>
          </a:prstGeom>
          <a:solidFill>
            <a:srgbClr val="FFF8F0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6217920" y="3383280"/>
            <a:ext cx="24688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⚠  Alertas do modelo devem ser validados por humanos.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6172200" y="3977640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Um score de 85% de risco é uma recomendação de atenção, não uma sentença. Contexto humano é insubstituível.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320040" y="274320"/>
            <a:ext cx="8503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A CONCLUSÃO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320040" y="658368"/>
            <a:ext cx="8503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atraso Logístico é o principal gatilho da insatisfação dos clientes! 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320040" y="1783080"/>
            <a:ext cx="8503920" cy="36576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320040" y="1920240"/>
            <a:ext cx="2743200" cy="2560320"/>
          </a:xfrm>
          <a:prstGeom prst="rect">
            <a:avLst/>
          </a:prstGeom>
          <a:solidFill>
            <a:srgbClr val="0F2535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320040" y="201168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🔮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411480" y="26060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Sabemos antes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429768" y="3035808"/>
            <a:ext cx="252374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B4C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0B4C0"/>
                </a:solidFill>
                <a:latin typeface="Calibri"/>
                <a:ea typeface="Calibri"/>
                <a:cs typeface="Calibri"/>
                <a:sym typeface="Calibri"/>
              </a:rPr>
              <a:t>O modelo identifica 93% dos futuros detratores antes da pesquisa. Temos janela para agir.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3200400" y="1920240"/>
            <a:ext cx="2743200" cy="2560320"/>
          </a:xfrm>
          <a:prstGeom prst="rect">
            <a:avLst/>
          </a:prstGeom>
          <a:solidFill>
            <a:srgbClr val="0F2535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3200400" y="201168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3291840" y="26060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Sabemos o porquê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3310128" y="3035808"/>
            <a:ext cx="252374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B4C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0B4C0"/>
                </a:solidFill>
                <a:latin typeface="Calibri"/>
                <a:ea typeface="Calibri"/>
                <a:cs typeface="Calibri"/>
                <a:sym typeface="Calibri"/>
              </a:rPr>
              <a:t>Entrega atrasada e atendimento ineficiente causam mais de 50% da insatisfação medida.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6080760" y="1920240"/>
            <a:ext cx="2743200" cy="2560320"/>
          </a:xfrm>
          <a:prstGeom prst="rect">
            <a:avLst/>
          </a:prstGeom>
          <a:solidFill>
            <a:srgbClr val="0F2535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6080760" y="201168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6172200" y="26060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Sabemos o que fazer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6190488" y="3035808"/>
            <a:ext cx="252374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B4C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0B4C0"/>
                </a:solidFill>
                <a:latin typeface="Calibri"/>
                <a:ea typeface="Calibri"/>
                <a:cs typeface="Calibri"/>
                <a:sym typeface="Calibri"/>
              </a:rPr>
              <a:t>Protocolo de atraso + FCR no SAC + modelo em produção = experiência sob controle.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320040" y="4864608"/>
            <a:ext cx="8503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546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A5468"/>
                </a:solidFill>
                <a:latin typeface="Calibri"/>
                <a:ea typeface="Calibri"/>
                <a:cs typeface="Calibri"/>
                <a:sym typeface="Calibri"/>
              </a:rPr>
              <a:t>Cássio, Danyela, Gustavo e Wilker |  AI Scientist  |  Tech Challenge — Fase 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2026-05-02T22:28:14Z</dcterms:created>
  <dc:creator>PptxGenJS</dc:creator>
</cp:coreProperties>
</file>