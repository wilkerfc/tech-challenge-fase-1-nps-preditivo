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Detratores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Sem atraso
(0 dias)</c:v>
                  </c:pt>
                  <c:pt idx="1">
                    <c:v>1 a 2 dias</c:v>
                  </c:pt>
                  <c:pt idx="2">
                    <c:v>3 a 5 dias</c:v>
                  </c:pt>
                  <c:pt idx="3">
                    <c:v>6 a 10 dias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36.5</c:v>
                </c:pt>
                <c:pt idx="1">
                  <c:v>67.7</c:v>
                </c:pt>
                <c:pt idx="2">
                  <c:v>92.8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complaints_count</c:v>
                  </c:pt>
                  <c:pt idx="1">
                    <c:v>delivery_delay_days</c:v>
                  </c:pt>
                  <c:pt idx="2">
                    <c:v>order_value</c:v>
                  </c:pt>
                  <c:pt idx="3">
                    <c:v>discount_value</c:v>
                  </c:pt>
                  <c:pt idx="4">
                    <c:v>freight_value</c:v>
                  </c:pt>
                  <c:pt idx="5">
                    <c:v>tenure_months</c:v>
                  </c:pt>
                  <c:pt idx="6">
                    <c:v>customer_age</c:v>
                  </c:pt>
                  <c:pt idx="7">
                    <c:v>resolution_time</c:v>
                  </c:pt>
                  <c:pt idx="8">
                    <c:v>svc_contacts</c:v>
                  </c:pt>
                  <c:pt idx="9">
                    <c:v>delivery_time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20.4</c:v>
                </c:pt>
                <c:pt idx="1">
                  <c:v>14.3</c:v>
                </c:pt>
                <c:pt idx="2">
                  <c:v>7.8</c:v>
                </c:pt>
                <c:pt idx="3">
                  <c:v>7.6</c:v>
                </c:pt>
                <c:pt idx="4">
                  <c:v>7.4</c:v>
                </c:pt>
                <c:pt idx="5">
                  <c:v>6.9</c:v>
                </c:pt>
                <c:pt idx="6">
                  <c:v>6.8</c:v>
                </c:pt>
                <c:pt idx="7">
                  <c:v>6.3</c:v>
                </c:pt>
                <c:pt idx="8">
                  <c:v>5</c:v>
                </c:pt>
                <c:pt idx="9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Preditivo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E-commerce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1  |  Data Science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1920240" cy="822960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3657600"/>
            <a:ext cx="1920240" cy="822960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657600"/>
            <a:ext cx="1920240" cy="822960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3657600"/>
            <a:ext cx="1920240" cy="822960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375"/>
                </a:solidFill>
              </a:rPr>
              <a:t>wilkerfc |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Negócio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NPS, áreas impactadas, reflexão estratégica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548640" cy="1463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alvo, justificativa, momento de coleta e riscos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(EDA)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críticos, detratores, ponto de ruptura, perfis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6517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51760"/>
            <a:ext cx="548640" cy="1463040"/>
          </a:xfrm>
          <a:prstGeom prst="rect">
            <a:avLst/>
          </a:prstGeom>
          <a:solidFill>
            <a:srgbClr val="00786E"/>
          </a:solidFill>
          <a:ln w="12700">
            <a:solidFill>
              <a:srgbClr val="0078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Preditiva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Estratégia, modelo, resultados e aplicação prática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01  |  Entendimento do Negócio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central: incapacidade de agir preventivamente sobre a insatisfação do cliente.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859536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859536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13432"/>
            <a:ext cx="1005840" cy="4297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1343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31343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31343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mal da marca, eleva churn, não recompra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95360" cy="429768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52344"/>
            <a:ext cx="1005840" cy="4297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52344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75234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75234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Satisfeito, mas não fiel — pode migrar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91256"/>
            <a:ext cx="8595360" cy="429768"/>
          </a:xfrm>
          <a:prstGeom prst="rect">
            <a:avLst/>
          </a:prstGeom>
          <a:solidFill>
            <a:srgbClr val="E8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91256"/>
            <a:ext cx="1005840" cy="4297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91256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19125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19125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ativamente, gera crescimento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432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Recompra × NPS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38862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42316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menor reter vs adquirir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8862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o detrator influencia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38862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72084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NPS varejo digital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  |  Definição da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is_detrator = 1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 nps_score ≤ 6   |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is_detrator = 0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 nps_score &gt;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variável?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percepção global do cliente sobre toda a jornada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2743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Padronizada globalmente — permite benchmarking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71216"/>
            <a:ext cx="2743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71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Compreendida por todos os stakeholders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55264"/>
            <a:ext cx="2743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55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diretamente a recompra, churn e indicação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no uso inadequado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103120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03120"/>
            <a:ext cx="13716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03120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487168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487168"/>
            <a:ext cx="137160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871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Resposta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871216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871216"/>
            <a:ext cx="137160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712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Causal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255264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255264"/>
            <a:ext cx="137160" cy="3383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55264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  |  Análise Exploratória — Fatores Críticos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com NPS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repeat_purchase_30d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14300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143000"/>
            <a:ext cx="286664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7164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+0.570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csat_internal_score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73736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737360"/>
            <a:ext cx="2836469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6989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+0.564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delivery_delay_days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33172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2368" y="2331720"/>
            <a:ext cx="3002432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00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-0.597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complaints_count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92608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5288" y="2926080"/>
            <a:ext cx="2499512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92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-0.497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customer_service_contacts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352044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9551" y="3520440"/>
            <a:ext cx="1765249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183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resolution_time_days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4114800"/>
            <a:ext cx="1371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223" y="4114800"/>
            <a:ext cx="960577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5855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-0.191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27432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663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Positiva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4663440"/>
            <a:ext cx="27432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4663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Negativa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  |  Ponto de Ruptura na Experiência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3 dias de atraso, praticamente TODOS os clientes tornam-se detratores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630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46304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5087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1228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CONTROLÁVEL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fatores dominam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304288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35000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12280" y="2350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já é alto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145536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19125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1228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todos detratores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3986784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403250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4032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IRREVERSÍVEL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12280" y="4398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detratores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SLA recomendado: pedidos com risco de atraso acima de 2 dias devem acionar protocolo de comunicação proativa imediata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  |  Perfis de Clientes por NPS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médio: 2,5 dias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22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médias: 4,6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08376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809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SAC médios: 1,7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66744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39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Concentração: Centro-Oeste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77240"/>
            <a:ext cx="274320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546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1691640"/>
            <a:ext cx="2286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médio: 1,4 dias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350008"/>
            <a:ext cx="2286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322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médias: 3,0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08376"/>
            <a:ext cx="2286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9809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contatos SAC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666744"/>
            <a:ext cx="2286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639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Satisfeito, mas não fiel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777240"/>
            <a:ext cx="2743200" cy="7315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504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1691640"/>
            <a:ext cx="228600" cy="228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médio: 0,8 dias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350008"/>
            <a:ext cx="228600" cy="228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322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médias: 2,4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008376"/>
            <a:ext cx="228600" cy="228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9809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ou 1 contato SAC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3666744"/>
            <a:ext cx="228600" cy="228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639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em 30 dias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8F4FD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NPS é determinado quase inteiramente pela qualidade da operação — entrega e atendimento. A empresa tem controle direto sobre os principais fatores.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  |  Modelagem — Features Utilizadas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 operacionais — sem data leakage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749808"/>
            <a:ext cx="2926080" cy="320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9320" y="749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Excluídas: csat_internal_score, repeat_purchase_30d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customer_tenure_months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items_quantity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payment_installments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delivery_time_days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delivery_delay_days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freight_value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delivery_attempts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154680"/>
            <a:ext cx="27432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538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customer_service_contacts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resolution_time_days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complaints_count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1546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154680"/>
            <a:ext cx="274320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538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region_enc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  |  Resultados — Random Forest Classifier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capacidade discriminativa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749808"/>
            <a:ext cx="1965960" cy="13716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8046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de cada 100 predições corretas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1965960" cy="1371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8046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em cada 10 detratores identificados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749808"/>
            <a:ext cx="1965960" cy="1371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8046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sólido precisão × recall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— Feature Importance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633472"/>
          <a:ext cx="8595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  |  Como o Modelo Será Usado na Prática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operacional em tempo real — probabilidade de detrator calculada a cada atualização de dados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P(Detrator)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Recomendada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01368"/>
            <a:ext cx="1280160" cy="3017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013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imediato pelo SAC + voucher de compensação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8595360" cy="612648"/>
          </a:xfrm>
          <a:prstGeom prst="rect">
            <a:avLst/>
          </a:prstGeom>
          <a:solidFill>
            <a:srgbClr val="F4F8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59736"/>
            <a:ext cx="1280160" cy="3017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5973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–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304288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proativo verificando satisfação com o pedido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304288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Marketing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18104"/>
            <a:ext cx="1280160" cy="3017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1810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– 60%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2962656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passivo + pesquisa CSAT pós-entrega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962656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Automático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8595360" cy="612648"/>
          </a:xfrm>
          <a:prstGeom prst="rect">
            <a:avLst/>
          </a:prstGeom>
          <a:solidFill>
            <a:srgbClr val="F4F8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76472"/>
            <a:ext cx="1280160" cy="3017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764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3621024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padrão — nenhuma ação adicional necessária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621024"/>
            <a:ext cx="2103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Feature Engineering  •  SMOTE  •  XGBoost/LightGBM  •  Deploy via API REST  •  Monitoramento de drift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EXECUTIVA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são claros.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73152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na entrega e volume de reclamações explicam a maior parte da insatisfação.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59152"/>
            <a:ext cx="73152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40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Random Forest identifica 93% dos detratores ANTES da pesquisa ser enviada.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73152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626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0,865 e acurácia de 83% — performance sólida para produção.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02736"/>
            <a:ext cx="73152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84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transforma o NPS de um indicador reativo em uma ferramenta proativa.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375"/>
                </a:solidFill>
              </a:rPr>
              <a:t>wilkerfc | Data Science  ·  Tech Challenge Fase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Preditivo para E-commerce</dc:title>
  <dc:subject>PptxGenJS Presentation</dc:subject>
  <dc:creator>PptxGenJS</dc:creator>
  <cp:lastModifiedBy>PptxGenJS</cp:lastModifiedBy>
  <cp:revision>1</cp:revision>
  <dcterms:created xsi:type="dcterms:W3CDTF">2026-05-01T15:59:33Z</dcterms:created>
  <dcterms:modified xsi:type="dcterms:W3CDTF">2026-05-01T15:59:33Z</dcterms:modified>
</cp:coreProperties>
</file>