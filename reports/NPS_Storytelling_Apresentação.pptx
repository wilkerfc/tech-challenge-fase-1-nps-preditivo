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qOJ7RrxGXRJJ7UKDiHS0Bw7T3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827870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a827870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a827870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a82787086_0_0"/>
          <p:cNvSpPr/>
          <p:nvPr/>
        </p:nvSpPr>
        <p:spPr>
          <a:xfrm>
            <a:off x="0" y="0"/>
            <a:ext cx="9150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9a82787086_0_0"/>
          <p:cNvSpPr/>
          <p:nvPr/>
        </p:nvSpPr>
        <p:spPr>
          <a:xfrm>
            <a:off x="320040" y="5029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você soubesse,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82787086_0_0"/>
          <p:cNvSpPr/>
          <p:nvPr/>
        </p:nvSpPr>
        <p:spPr>
          <a:xfrm>
            <a:off x="320040" y="109728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antes do cliente reclamar,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9a82787086_0_0"/>
          <p:cNvSpPr/>
          <p:nvPr/>
        </p:nvSpPr>
        <p:spPr>
          <a:xfrm>
            <a:off x="320040" y="169164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estava insatisfeito?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82787086_0_0"/>
          <p:cNvSpPr/>
          <p:nvPr/>
        </p:nvSpPr>
        <p:spPr>
          <a:xfrm>
            <a:off x="320040" y="2542032"/>
            <a:ext cx="4114800" cy="36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9a82787086_0_0"/>
          <p:cNvSpPr/>
          <p:nvPr/>
        </p:nvSpPr>
        <p:spPr>
          <a:xfrm>
            <a:off x="320040" y="2638055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NPS Preditivo para E-commerce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9a82787086_0_0"/>
          <p:cNvSpPr/>
          <p:nvPr/>
        </p:nvSpPr>
        <p:spPr>
          <a:xfrm>
            <a:off x="320050" y="3044875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Tech Challenge — Fase 1  |  AI Scientist</a:t>
            </a: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Cássio, Danyela, Gustavo e Wilker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9a82787086_0_0"/>
          <p:cNvSpPr/>
          <p:nvPr/>
        </p:nvSpPr>
        <p:spPr>
          <a:xfrm>
            <a:off x="32004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9a82787086_0_0"/>
          <p:cNvSpPr/>
          <p:nvPr/>
        </p:nvSpPr>
        <p:spPr>
          <a:xfrm>
            <a:off x="32004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a82787086_0_0"/>
          <p:cNvSpPr/>
          <p:nvPr/>
        </p:nvSpPr>
        <p:spPr>
          <a:xfrm>
            <a:off x="32004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dos clientes 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detratores hoje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82787086_0_0"/>
          <p:cNvSpPr/>
          <p:nvPr/>
        </p:nvSpPr>
        <p:spPr>
          <a:xfrm>
            <a:off x="315468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9a82787086_0_0"/>
          <p:cNvSpPr/>
          <p:nvPr/>
        </p:nvSpPr>
        <p:spPr>
          <a:xfrm>
            <a:off x="315468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9a82787086_0_0"/>
          <p:cNvSpPr/>
          <p:nvPr/>
        </p:nvSpPr>
        <p:spPr>
          <a:xfrm>
            <a:off x="315468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identificados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antes de reclamar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9a82787086_0_0"/>
          <p:cNvSpPr/>
          <p:nvPr/>
        </p:nvSpPr>
        <p:spPr>
          <a:xfrm>
            <a:off x="598932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9a82787086_0_0"/>
          <p:cNvSpPr/>
          <p:nvPr/>
        </p:nvSpPr>
        <p:spPr>
          <a:xfrm>
            <a:off x="598932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 dias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a82787086_0_0"/>
          <p:cNvSpPr/>
          <p:nvPr/>
        </p:nvSpPr>
        <p:spPr>
          <a:xfrm>
            <a:off x="598932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atraso = ponto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ruptura crítico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CONTEXTO DO PROBLEMA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Por que isso importa para o negócio?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NPS só chega </a:t>
            </a: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DEPOIS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cliente foi embora. 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Quando o </a:t>
            </a:r>
            <a:r>
              <a:rPr b="1" lang="en-US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cliente já é </a:t>
            </a:r>
            <a:r>
              <a:rPr b="1" lang="en-US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detrator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7432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Volume cresce.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8404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 não acompanha.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8404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e-commerce escala pedidos, mas a qualidade da entrega e do atendimento não cresce no mesmo ritmo.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15468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154680" y="1755648"/>
            <a:ext cx="27432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9184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 Custo invisível.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6440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Detratores drenam o caixa.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6440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Reter um cliente custa 5–7× menos que adquirir um novo. Detratores não recompram — e ainda afastam outros.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3504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03504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17220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📢  Boca a boca negativo.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4476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Experiências ruins se multiplicam.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4476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detrator conta a experiência negativa para 9–15 pessoas. Em e-commerce, isso vira review público.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20040" y="36576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PERGUNTA QUE GUIOU TUDO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0040" y="868680"/>
            <a:ext cx="8503920" cy="1463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02920" y="8686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"É possível prever, com base em dados operacionais disponíveis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da entrega, se um cliente vai se tornar um detrator?"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" y="251460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que o modelo busca responder: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90779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11480" y="290779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60120" y="290779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Quais fatores operacionais mais impactam a insatisfação?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350215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11480" y="350215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3502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 é a probabilidade deste cliente específico virar detrator?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09651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11480" y="409651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409651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e como intervir antes que a insatisfação aconteça?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RETRATO DOS DADOS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32075" y="0"/>
            <a:ext cx="888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Principais insights da análise exploratória (EDA)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822960"/>
            <a:ext cx="2560320" cy="40690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7432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7432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clientes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320" y="27432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74320" y="32918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1.851 de 2.500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analisados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38862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Alerta crítico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o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108960" y="82296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108960" y="822960"/>
            <a:ext cx="109728" cy="9144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73552" y="82296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🚚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86200" y="89611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Entrega é o maior gatilho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86200" y="12344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na entrega tem correlação de −0,60 com o NPS. É o fator isolado mais destrutivo.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108960" y="182880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108960" y="1828800"/>
            <a:ext cx="109728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273552" y="182880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886200" y="190195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Reclamações acumulam dano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886200" y="2240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reclamação adicional degrada o NPS sistematicamente. Correlação de −0,50.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108960" y="283464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108960" y="2834640"/>
            <a:ext cx="109728" cy="9144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73552" y="283464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886200" y="29077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Quem recompra, aprova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886200" y="32461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 em 30 dias tem correlação de +0,57 com NPS alto. Satisfação gera fidelidade.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108960" y="384048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108960" y="3840480"/>
            <a:ext cx="109728" cy="9144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273552" y="384048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886200" y="39136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Preço importa menos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86200" y="4251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valor do pedido mal diferencia promotores de detratores (−6%). Não é sobre preço.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PONTO ONDE TUDO QUEBRA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Insight mais crítico da análise exploratória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8275" y="78051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% de clientes que viram detratores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3281033"/>
            <a:ext cx="868680" cy="970927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40080" y="298842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36.5%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436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(no prazo)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828800" y="2451091"/>
            <a:ext cx="868680" cy="1800869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828800" y="2158483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78308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017520" y="1783413"/>
            <a:ext cx="868680" cy="2468547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017520" y="149080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97180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3–5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06240" y="1591887"/>
            <a:ext cx="868680" cy="2660073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206240" y="1299279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6052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6–10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4251960"/>
            <a:ext cx="4572000" cy="228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788920" y="1097280"/>
            <a:ext cx="36576" cy="3063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860703" y="1339595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← PONTO DE RUPTURA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15000" y="822960"/>
            <a:ext cx="3200400" cy="932688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715000" y="822960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0" y="91440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36,5%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0" y="13258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sem atraso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715000" y="1847088"/>
            <a:ext cx="3200400" cy="93268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715000" y="1847088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00800" y="193852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67,7%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0" y="23500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1–2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715000" y="2871216"/>
            <a:ext cx="3200400" cy="932688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715000" y="2871216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400800" y="2962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92,8%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400800" y="337413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3–5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715000" y="3895344"/>
            <a:ext cx="3200400" cy="932688"/>
          </a:xfrm>
          <a:prstGeom prst="rect">
            <a:avLst/>
          </a:prstGeom>
          <a:solidFill>
            <a:srgbClr val="FFE8E8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715000" y="3895344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400800" y="398678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00800" y="439826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6+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💡  SLA recomendado: qualquer pedido com risco de atraso ≥ 3 dias deve acionar comunicação proativa imediata com o cliente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083013" y="2306750"/>
            <a:ext cx="737700" cy="738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partir de 3 dias,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queda é irreversível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536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REALMENTE MOVE A SATISFAÇÃO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50" y="-64025"/>
            <a:ext cx="857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Os fatores </a:t>
            </a: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 que mais impactam a satisfação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83000" y="5944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📋  Número de reclamações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574840" y="685912"/>
            <a:ext cx="50874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735381" y="5944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83000" y="11888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🚚  Dias de atraso na entrega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574840" y="1280272"/>
            <a:ext cx="35661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214152" y="11888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14.3%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83000" y="178319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💰  Valor do pedido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574840" y="1874632"/>
            <a:ext cx="19452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593170" y="178319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83000" y="237755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🏷️  Desconto aplicado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74840" y="2468992"/>
            <a:ext cx="18954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5543294" y="237755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83000" y="297191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📦  Valor do frete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574840" y="3063352"/>
            <a:ext cx="18453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493417" y="297191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83000" y="35662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🎧  Tempo no atendimento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574840" y="3657712"/>
            <a:ext cx="15711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219097" y="35662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6.3%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83000" y="41606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📞  Contatos com o SAC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574840" y="4252072"/>
            <a:ext cx="12468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894901" y="41606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25" y="4708400"/>
            <a:ext cx="91413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625" y="4721800"/>
            <a:ext cx="91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Entrega + Atendimento = mais de 50% do que explica a insatisfação. O cliente não quer promoção — quer que o pedido chegue no prazo e o problema seja resolvido na primeira ligação.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CLIENTES. UMA DIFERENÇA ENORME.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perfil médio de quem odeia vs. quem ama a marca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74320" y="777240"/>
            <a:ext cx="3931920" cy="5943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1148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😤  DETRATOR   (nota 0–6)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1148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920240" y="148132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2,5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148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3× mais que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920240" y="2103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4,6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+93%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1148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920240" y="27249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1,7 ligações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1148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+117%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1148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920240" y="334670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5,8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1148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+41%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920240" y="396849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Raramente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Alta taxa de churn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93776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937760" y="777240"/>
            <a:ext cx="3931920" cy="59436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07492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😊  PROMOTOR   (nota 9–10)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07492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148132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7492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Entrega quase sempre no prazo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7492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58368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2,4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7492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Significativamente menos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7492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583680" y="272491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ligação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07492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Resolve no primeiro contato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07492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83680" y="334670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4,1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7492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Mais rápido e eficiente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07492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583680" y="396849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Sim!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07492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Gera crescimento orgânico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FAZER COM ISSO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Recomendações práticas e priorizadas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74320" y="804672"/>
            <a:ext cx="4160520" cy="199339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274320" y="804672"/>
            <a:ext cx="4160520" cy="4114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URGENTE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Protocolo de alerta para atraso ≥ 3 dias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um gatilho automático: qualquer pedido com previsão de atraso acima de 2 dias deve disparar uma mensagem proativa ao cliente antes que ele perceba o problema.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de 92% para &lt; 60% a taxa de detratores por atraso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709160" y="804672"/>
            <a:ext cx="4160520" cy="1993392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80060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ALTA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80060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SAC com resolução no primeiro contato (FCR)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80060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Investir em capacitação do atendimento para que o problema seja resolvido na primeira ligação. Clientes que ligam 2+ vezes têm probabilidade 3× maior de virar detratores.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contatos médios de 1,7 para &lt; 1,2 por pedido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2926080"/>
            <a:ext cx="4160520" cy="199339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274320" y="2926080"/>
            <a:ext cx="4160520" cy="41148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6576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MÉDIA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76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Modelo preditivo em produção (real-time)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6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Integrar o modelo ao pipeline operacional para calcular, a cada atualização, a probabilidade de cada cliente virar detrator. Clientes com &gt; 80% de risco: contato imediato + voucher.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→ Transforma o NPS de indicador reativo em ferramenta proativa de gestão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09160" y="2926080"/>
            <a:ext cx="4160520" cy="1993392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80060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CONTÍNUO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0060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Dashboard de NPS preditivo para lideranças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80060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painel que mostra, em tempo real, quantos clientes estão em risco de detração e por qual motivo — alimentando decisões de Logística, SAC, Produto e Marketing.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0060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→ Alinha toda a operação em torno da experiência do cliente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ESTE MODELO NÃO É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Limitações e riscos que toda liderança precisa conhecer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2004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🔭  Correlação ≠ Causa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2004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6576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modelo detecta padrões, mas não prova causalidade.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2004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Reduzir o atraso provavelmente melhora o NPS, mas não há garantia de que seja linear. Teste antes de escalar.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15468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24612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📊  Amostra com viés de resposta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4612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29184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74% detratores pode não representar o universo real.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24612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Clientes com experiências extremas respondem mais. A realidade pode ser ligeiramente menos grave — ou pior.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08076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17220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⏰  Modelo envelhece com o tempo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17220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21792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comportamento dos clientes muda. O modelo pode perder precisão.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17220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Monitorar drift mensal. Re-treinar trimestralmente com dados novos para manter os 93% de recall.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2860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2004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🎯  74% detratores exige cuidado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2004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36576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Classes muito desbalanceadas distorcem métricas simples.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4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Nunca usar "acurácia" sozinha para avaliar. AUC-ROC e F1 são as métricas corretas neste cenário.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15468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4612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🔗  Variáveis excluídas a propósito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24612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329184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CSAT interno e recompra foram removidas intencionalmente.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4612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incluídas, o modelo pareceria mais preciso, mas "trapacearia" usando informação do futuro (data leakage).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08076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17220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🤝  Modelo é suporte, não substituto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17220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621792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Alertas do modelo devem ser validados por humanos.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17220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score de 85% de risco é uma recomendação de atenção, não uma sentença. Contexto humano é insubstituível.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20040" y="27432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CONCLUSÃO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20040" y="658368"/>
            <a:ext cx="8503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atraso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Logístico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é o principal gatilho da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insatisfação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clientes!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20040" y="1783080"/>
            <a:ext cx="8503920" cy="36576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2004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2004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1148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antes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2976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O modelo identifica 93% dos futuros detratores antes da pesquisa. Temos janela para agir.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20040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porquê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31012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Entrega atrasada e atendimento ineficiente causam mais de 50% da insatisfação medida.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08076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08076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17220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que fazer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19048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Protocolo de atraso + FCR no SAC + modelo em produção = experiência sob controle.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46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Cássio, Danyela, Gustavo e Wilker</a:t>
            </a:r>
            <a:r>
              <a:rPr b="0" i="0" lang="en-US" sz="850" u="none" cap="none" strike="noStrike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850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AI Scientist</a:t>
            </a:r>
            <a:r>
              <a:rPr b="0" i="0" lang="en-US" sz="850" u="none" cap="none" strike="noStrike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  |  Tech Challenge — Fase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2026-05-02T22:28:14Z</dcterms:created>
  <dc:creator>PptxGenJS</dc:creator>
</cp:coreProperties>
</file>